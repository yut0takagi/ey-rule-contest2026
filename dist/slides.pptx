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つかみ。メンバー自身の不合格メールの体験を一言添える。
理由が分からなかったときにしたこと（体験記を読みあさった、ガクチカを書き直した、同じ内容で出し続けた等）を口頭で。
右側の○には3人の実数を入れる。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締め：1人あたり十数回から数十回評価されるのに、合否の連絡に理由は書かれていない。
補足（口頭で）：合否の連絡すら来ない企業もある。書類選考で29%、大企業の面接で23%（HR総研、2017年3月実施）。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断定しすぎない。「同じ項目で比べると、これだけずれている」と言う。
人柄は意識してアピールしなくても伝わるので、差のすべてが努力のずれではない。
締め：評価が返ってこないから、学生はずれた方向に力を注ぎ続ける。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離職率とFB欠如の因果は示せていない。「ミスマッチの一つの表れ」として控えめに扱う。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②の定型フォーマットの例：「志望動機と当社の事業の一致」「経験の具体性」「当社の働き方との相性」などを、期待を上回る／期待どおり／期待に届かず の3段階で返す。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情報系メンバーが担当。評価シートのサンプルを入力し、定型FBが出るところを見せる（スクリーンショットを差し込む）。
採用に関わる人員数が課題の企業は38.2%（就職白書2026 図表111）。手間の懸念はここで先に潰す。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情報系メンバー：試作で、評価シート10件程度をサンプルとして生成時間と利用料を測る。1件あたりの値から1万件に掛け戻す。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条文番号は資料に書く前に最新の法令で確認する。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24955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学生ルール形成アイデアコンテスト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2781300"/>
            <a:ext cx="1066800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沈黙する選考から、</a:t>
            </a:r>
            <a:endParaRPr lang="en-US" sz="4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9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育てる選考へ</a:t>
            </a:r>
            <a:endParaRPr lang="en-US" sz="495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46482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就活を通して、学生の成長を最大化する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2000" y="5543550"/>
            <a:ext cx="10668000" cy="0"/>
          </a:xfrm>
          <a:prstGeom prst="line">
            <a:avLst/>
          </a:prstGeom>
          <a:noFill/>
          <a:ln w="9525">
            <a:solidFill>
              <a:srgbClr val="7474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2000" y="569595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【団体名】</a:t>
            </a:r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pPr algn="l" indent="0" marL="0">
              <a:lnSpc>
                <a:spcPct val="130000"/>
              </a:lnSpc>
              <a:buNone/>
            </a:pPr>
            <a:r>
              <a:rPr lang="en-US" sz="143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【大学名】</a:t>
            </a:r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pPr algn="l" indent="0" marL="0">
              <a:lnSpc>
                <a:spcPct val="130000"/>
              </a:lnSpc>
              <a:buNone/>
            </a:pPr>
            <a:r>
              <a:rPr lang="en-US" sz="143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【メンバー名】</a:t>
            </a:r>
            <a:endParaRPr lang="en-US" sz="14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62000" y="1676400"/>
            <a:ext cx="95250" cy="8382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7750" y="1695450"/>
            <a:ext cx="10382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目指すのは、</a:t>
            </a:r>
            <a:pPr algn="l" indent="0" marL="0">
              <a:lnSpc>
                <a:spcPct val="150000"/>
              </a:lnSpc>
              <a:buNone/>
            </a:pPr>
            <a:r>
              <a:rPr lang="en-US" sz="203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就活を通して学生の成長を最大化すること</a:t>
            </a:r>
            <a:pPr algn="l" indent="0" marL="0">
              <a:lnSpc>
                <a:spcPct val="150000"/>
              </a:lnSpc>
              <a:buNone/>
            </a:pPr>
            <a:r>
              <a:rPr lang="en-US" sz="20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03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0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そのために、評価の理由が本人に返るルールをつくる。</a:t>
            </a:r>
            <a:endParaRPr lang="en-US" sz="2030" dirty="0"/>
          </a:p>
        </p:txBody>
      </p:sp>
      <p:sp>
        <p:nvSpPr>
          <p:cNvPr id="8" name="Shape 6"/>
          <p:cNvSpPr/>
          <p:nvPr/>
        </p:nvSpPr>
        <p:spPr>
          <a:xfrm>
            <a:off x="762000" y="2762250"/>
            <a:ext cx="3181350" cy="29718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2500" y="2933700"/>
            <a:ext cx="489204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3276600"/>
            <a:ext cx="28003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評価されるのに、成長につながらない</a:t>
            </a:r>
            <a:endParaRPr lang="en-US" sz="1580" dirty="0"/>
          </a:p>
        </p:txBody>
      </p:sp>
      <p:sp>
        <p:nvSpPr>
          <p:cNvPr id="11" name="Shape 9"/>
          <p:cNvSpPr/>
          <p:nvPr/>
        </p:nvSpPr>
        <p:spPr>
          <a:xfrm>
            <a:off x="971550" y="40233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04900" y="39319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学生は書類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12.4社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、面接は対面5.1社・Web7.6社で評価される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1550" y="45186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4900" y="44272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企業の重視点と学生のアピールに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50pt超のずれ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1550" y="50139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04900" y="49225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理由に届く経路を持つ学生は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約8人に1人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7200" y="2762250"/>
            <a:ext cx="3657600" cy="297180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57700" y="2933700"/>
            <a:ext cx="1684020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提案：理由が返る就活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3276600"/>
            <a:ext cx="3276600" cy="3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評価のたびに学べる仕組み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4476750" y="3743325"/>
            <a:ext cx="45720" cy="457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0100" y="3651885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標準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：結果と一緒に、全員に理由を返すのを当たり前にする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76750" y="4238625"/>
            <a:ext cx="45720" cy="457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0100" y="4147185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形式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：次に生かせる形で返す（項目ごとの評価）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76750" y="4733925"/>
            <a:ext cx="45720" cy="457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0100" y="4642485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誘因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：ユースエール認定に追加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76750" y="5000625"/>
            <a:ext cx="45720" cy="457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10100" y="4909185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保護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：学生側の利用ルール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48650" y="2762250"/>
            <a:ext cx="3181350" cy="29718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39150" y="2933700"/>
            <a:ext cx="787908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目指す姿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39150" y="3276600"/>
            <a:ext cx="280035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就活が、学生を育てる場になる</a:t>
            </a:r>
            <a:endParaRPr lang="en-US" sz="1580" dirty="0"/>
          </a:p>
        </p:txBody>
      </p:sp>
      <p:sp>
        <p:nvSpPr>
          <p:cNvPr id="31" name="Shape 29"/>
          <p:cNvSpPr/>
          <p:nvPr/>
        </p:nvSpPr>
        <p:spPr>
          <a:xfrm>
            <a:off x="8458200" y="40233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91550" y="39319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学生：評価→理由→修正→再挑戦を、受ける社数の分だけ回せる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58200" y="45186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91550" y="44272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企業：選考基準がそろい、FBで再応募の意向が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4倍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5013960"/>
            <a:ext cx="45720" cy="45720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91550" y="4922520"/>
            <a:ext cx="264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社会：理由に届くかどうかが、お金で決まらなくなる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943350" y="2762250"/>
            <a:ext cx="32385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950" dirty="0"/>
          </a:p>
        </p:txBody>
      </p:sp>
      <p:sp>
        <p:nvSpPr>
          <p:cNvPr id="38" name="Text 36"/>
          <p:cNvSpPr txBox="1"/>
          <p:nvPr/>
        </p:nvSpPr>
        <p:spPr>
          <a:xfrm>
            <a:off x="7924800" y="2762250"/>
            <a:ext cx="32385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762000" y="5886450"/>
            <a:ext cx="10668000" cy="644366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09650" y="6038850"/>
            <a:ext cx="10172700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要請と認定で広げ、</a:t>
            </a:r>
            <a:pPr algn="l" indent="0" marL="0">
              <a:lnSpc>
                <a:spcPct val="155000"/>
              </a:lnSpc>
              <a:buNone/>
            </a:pPr>
            <a:r>
              <a:rPr lang="en-US" sz="173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3年目に国の指針で「標準」と明記</a:t>
            </a:r>
            <a:pPr algn="l" indent="0" marL="0">
              <a:lnSpc>
                <a:spcPct val="15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する。新しい法律は作らない。</a:t>
            </a:r>
            <a:endParaRPr lang="en-US" sz="1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何十社受けても、なぜ落ちたのかは分からない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209800"/>
            <a:ext cx="590550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2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「残念ながら</a:t>
            </a:r>
            <a:endParaRPr lang="en-US" sz="5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2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今回は…」</a:t>
            </a:r>
            <a:endParaRPr lang="en-US" sz="52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048125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届くのは合否だけ。</a:t>
            </a:r>
            <a:endParaRPr lang="en-US" sz="16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何が評価され、何が合わないと思われたのかを</a:t>
            </a:r>
            <a:endParaRPr lang="en-US" sz="16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知らないまま、</a:t>
            </a:r>
            <a:pPr algn="l" indent="0" marL="0">
              <a:lnSpc>
                <a:spcPct val="170000"/>
              </a:lnSpc>
              <a:buNone/>
            </a:pPr>
            <a:r>
              <a:rPr lang="en-US" sz="16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次の選考に向かう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96100" y="1809750"/>
            <a:ext cx="0" cy="3333750"/>
          </a:xfrm>
          <a:prstGeom prst="line">
            <a:avLst/>
          </a:prstGeom>
          <a:noFill/>
          <a:ln w="9525">
            <a:solidFill>
              <a:srgbClr val="7474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77100" y="1952625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OUR STORY　私たち3人の就活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77100" y="2314575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3750" dirty="0"/>
          </a:p>
        </p:txBody>
      </p:sp>
      <p:sp>
        <p:nvSpPr>
          <p:cNvPr id="10" name="Text 8"/>
          <p:cNvSpPr txBox="1"/>
          <p:nvPr/>
        </p:nvSpPr>
        <p:spPr>
          <a:xfrm>
            <a:off x="7277100" y="28860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3人で受けた社数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77100" y="3248025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3750" dirty="0"/>
          </a:p>
        </p:txBody>
      </p:sp>
      <p:sp>
        <p:nvSpPr>
          <p:cNvPr id="12" name="Text 10"/>
          <p:cNvSpPr txBox="1"/>
          <p:nvPr/>
        </p:nvSpPr>
        <p:spPr>
          <a:xfrm>
            <a:off x="7277100" y="381952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不合格になった社数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77100" y="4181475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3750" dirty="0"/>
          </a:p>
        </p:txBody>
      </p:sp>
      <p:sp>
        <p:nvSpPr>
          <p:cNvPr id="14" name="Text 12"/>
          <p:cNvSpPr txBox="1"/>
          <p:nvPr/>
        </p:nvSpPr>
        <p:spPr>
          <a:xfrm>
            <a:off x="7277100" y="47529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理由が返ってきた社数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何十回も評価されるのに、基準は見えない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61925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26卒の学生が各選考プロセスを経験した社数の平均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62000" y="2038350"/>
            <a:ext cx="2552700" cy="1428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038350"/>
            <a:ext cx="25527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2500" y="2247900"/>
            <a:ext cx="21717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12.4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405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2915603"/>
            <a:ext cx="21717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書類提出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952500" y="3169444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エントリーシートなど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67100" y="2038350"/>
            <a:ext cx="2552700" cy="1428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7100" y="2038350"/>
            <a:ext cx="25527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2247900"/>
            <a:ext cx="21717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9.8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40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915603"/>
            <a:ext cx="21717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適性検査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169444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筆記試験を含む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038350"/>
            <a:ext cx="2552700" cy="1428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2038350"/>
            <a:ext cx="25527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62700" y="2247900"/>
            <a:ext cx="21717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5.1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6362700" y="2915603"/>
            <a:ext cx="21717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</a:t>
            </a: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6362700" y="3169444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7300" y="2038350"/>
            <a:ext cx="2552700" cy="1428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877300" y="2038350"/>
            <a:ext cx="25527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67800" y="2247900"/>
            <a:ext cx="21717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7.6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</a:t>
            </a:r>
            <a:endParaRPr lang="en-US" sz="4050" dirty="0"/>
          </a:p>
        </p:txBody>
      </p:sp>
      <p:sp>
        <p:nvSpPr>
          <p:cNvPr id="25" name="Text 23"/>
          <p:cNvSpPr txBox="1"/>
          <p:nvPr/>
        </p:nvSpPr>
        <p:spPr>
          <a:xfrm>
            <a:off x="9067800" y="2915603"/>
            <a:ext cx="21717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9067800" y="3169444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2000" y="3657600"/>
            <a:ext cx="5257800" cy="1428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3657600"/>
            <a:ext cx="52578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500" y="3867150"/>
            <a:ext cx="48768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36.7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</a:t>
            </a:r>
            <a:endParaRPr lang="en-US" sz="4050" dirty="0"/>
          </a:p>
        </p:txBody>
      </p:sp>
      <p:sp>
        <p:nvSpPr>
          <p:cNvPr id="30" name="Text 28"/>
          <p:cNvSpPr txBox="1"/>
          <p:nvPr/>
        </p:nvSpPr>
        <p:spPr>
          <a:xfrm>
            <a:off x="952500" y="4534853"/>
            <a:ext cx="48768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採用選考の基準を「知りたかった」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172200" y="3657600"/>
            <a:ext cx="5257800" cy="14287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3657600"/>
            <a:ext cx="5257800" cy="571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62700" y="3867150"/>
            <a:ext cx="48768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29.4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</a:t>
            </a:r>
            <a:endParaRPr lang="en-US" sz="4050" dirty="0"/>
          </a:p>
        </p:txBody>
      </p:sp>
      <p:sp>
        <p:nvSpPr>
          <p:cNvPr id="34" name="Text 32"/>
          <p:cNvSpPr txBox="1"/>
          <p:nvPr/>
        </p:nvSpPr>
        <p:spPr>
          <a:xfrm>
            <a:off x="6362700" y="4534853"/>
            <a:ext cx="48768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実際に「知ることができた」</a:t>
            </a:r>
            <a:endParaRPr lang="en-US" sz="1280" dirty="0"/>
          </a:p>
        </p:txBody>
      </p:sp>
      <p:sp>
        <p:nvSpPr>
          <p:cNvPr id="35" name="Text 33"/>
          <p:cNvSpPr txBox="1"/>
          <p:nvPr/>
        </p:nvSpPr>
        <p:spPr>
          <a:xfrm>
            <a:off x="6362700" y="4788694"/>
            <a:ext cx="48768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知りたかった割合を下回る数少ない項目の一つ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62000" y="641985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出典：リクルート就職みらい研究所『就職白書2026』図表37（各プロセスの実施者ベース）・図表39・40（学生n=1,326）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見当違いの努力を、何十社分も繰り返している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171450" cy="11430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9650" y="18669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企業が選考で重視する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7500" y="1905000"/>
            <a:ext cx="17145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5150" y="18669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学生が面接でアピールした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2247900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今後の可能性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2438400" y="2247900"/>
            <a:ext cx="5531930" cy="180975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71.0%</a:t>
            </a:r>
            <a:endParaRPr lang="en-US" sz="980" dirty="0"/>
          </a:p>
        </p:txBody>
      </p:sp>
      <p:sp>
        <p:nvSpPr>
          <p:cNvPr id="12" name="Text 10"/>
          <p:cNvSpPr txBox="1"/>
          <p:nvPr/>
        </p:nvSpPr>
        <p:spPr>
          <a:xfrm>
            <a:off x="2438400" y="2466975"/>
            <a:ext cx="1254423" cy="180975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16.1%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10382250" y="2247900"/>
            <a:ext cx="104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−54.9pt</a:t>
            </a:r>
            <a:endParaRPr lang="en-US" sz="1730" dirty="0"/>
          </a:p>
        </p:txBody>
      </p:sp>
      <p:sp>
        <p:nvSpPr>
          <p:cNvPr id="14" name="Text 12"/>
          <p:cNvSpPr txBox="1"/>
          <p:nvPr/>
        </p:nvSpPr>
        <p:spPr>
          <a:xfrm>
            <a:off x="762000" y="2800350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人柄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2438400" y="2800350"/>
            <a:ext cx="7308380" cy="180975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93.8%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2438400" y="3019425"/>
            <a:ext cx="3186703" cy="180975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40.9%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10382250" y="2800350"/>
            <a:ext cx="104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−52.9pt</a:t>
            </a:r>
            <a:endParaRPr lang="en-US" sz="1730" dirty="0"/>
          </a:p>
        </p:txBody>
      </p:sp>
      <p:sp>
        <p:nvSpPr>
          <p:cNvPr id="18" name="Text 16"/>
          <p:cNvSpPr txBox="1"/>
          <p:nvPr/>
        </p:nvSpPr>
        <p:spPr>
          <a:xfrm>
            <a:off x="762000" y="3352800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自社への熱意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2438400" y="3352800"/>
            <a:ext cx="5718924" cy="180975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73.4%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2438400" y="3571875"/>
            <a:ext cx="1605039" cy="180975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20.6%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10382250" y="3352800"/>
            <a:ext cx="104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−52.8pt</a:t>
            </a:r>
            <a:endParaRPr lang="en-US" sz="1730" dirty="0"/>
          </a:p>
        </p:txBody>
      </p:sp>
      <p:sp>
        <p:nvSpPr>
          <p:cNvPr id="22" name="Text 20"/>
          <p:cNvSpPr txBox="1"/>
          <p:nvPr/>
        </p:nvSpPr>
        <p:spPr>
          <a:xfrm>
            <a:off x="762000" y="3905250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アルバイト経験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2438400" y="3905250"/>
            <a:ext cx="2446515" cy="180975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31.4%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2438400" y="4124325"/>
            <a:ext cx="3591858" cy="180975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46.1%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10382250" y="3905250"/>
            <a:ext cx="104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+14.7pt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762000" y="4457700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趣味・特技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2438400" y="4457700"/>
            <a:ext cx="545402" cy="180975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7.0%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2438400" y="4676775"/>
            <a:ext cx="1838782" cy="180975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23.6%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10382250" y="4457700"/>
            <a:ext cx="104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+16.6pt</a:t>
            </a:r>
            <a:endParaRPr lang="en-US" sz="1430" dirty="0"/>
          </a:p>
        </p:txBody>
      </p:sp>
      <p:sp>
        <p:nvSpPr>
          <p:cNvPr id="30" name="Text 28"/>
          <p:cNvSpPr txBox="1"/>
          <p:nvPr/>
        </p:nvSpPr>
        <p:spPr>
          <a:xfrm>
            <a:off x="762000" y="628650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出典：『就職白書2026』図表41（学生n=1,326）・図表110（企業n=1,182）。同じ項目リストでの比較。「アピールした」と「重視する」は同一の問いではない点に留意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03 ／ REFRAME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638300"/>
            <a:ext cx="46577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12.2</a:t>
            </a:r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8003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人材紹介会社に登録している学生。</a:t>
            </a:r>
            <a:endParaRPr lang="en-US" sz="143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企業は不採用の理由を</a:t>
            </a:r>
            <a:pPr algn="l" indent="0" marL="0">
              <a:lnSpc>
                <a:spcPct val="15500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エージェントには伝える</a:t>
            </a:r>
            <a:pPr algn="l" indent="0" marL="0">
              <a:lnSpc>
                <a:spcPct val="155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ことがある。</a:t>
            </a:r>
            <a:endParaRPr lang="en-US" sz="143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理由に届く経路を持つのは、</a:t>
            </a:r>
            <a:pPr algn="l" indent="0" marL="0">
              <a:lnSpc>
                <a:spcPct val="155000"/>
              </a:lnSpc>
              <a:buNone/>
            </a:pPr>
            <a:r>
              <a:rPr lang="en-US" sz="143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約8人に1人</a:t>
            </a:r>
            <a:pPr algn="l" indent="0" marL="0">
              <a:lnSpc>
                <a:spcPct val="155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だけ。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5838825" y="1066800"/>
            <a:ext cx="57150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これはマナーの問題ではない。</a:t>
            </a:r>
            <a:endParaRPr lang="en-US" sz="27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日本の就活は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国内最大規模の</a:t>
            </a:r>
            <a:endParaRPr lang="en-US" sz="27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「フィードバックのない評価」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だ。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838825" y="2781300"/>
            <a:ext cx="5619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評価のたびに学べるはずの機会が、毎年何十万人分も捨てられている。</a:t>
            </a:r>
            <a:endParaRPr lang="en-US" sz="143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ずれを抱えたまま入社し、大卒の </a:t>
            </a:r>
            <a:pPr algn="l" indent="0" marL="0">
              <a:lnSpc>
                <a:spcPct val="17000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33.8%</a:t>
            </a:r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が3年以内に離職している。</a:t>
            </a:r>
            <a:endParaRPr lang="en-US" sz="143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成長の機会の損失</a:t>
            </a:r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であり、</a:t>
            </a:r>
            <a:pPr algn="l" indent="0" marL="0">
              <a:lnSpc>
                <a:spcPct val="170000"/>
              </a:lnSpc>
              <a:buNone/>
            </a:pPr>
            <a:r>
              <a:rPr lang="en-US" sz="14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情報の格差</a:t>
            </a:r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の問題である。</a:t>
            </a:r>
            <a:endParaRPr lang="en-US" sz="143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目指すのは、</a:t>
            </a:r>
            <a:pPr algn="l" indent="0" marL="0">
              <a:lnSpc>
                <a:spcPct val="170000"/>
              </a:lnSpc>
              <a:buNone/>
            </a:pPr>
            <a:r>
              <a:rPr lang="en-US" sz="143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就活を通して学生の成長を最大化すること</a:t>
            </a:r>
            <a:pPr algn="l" indent="0" marL="0">
              <a:lnSpc>
                <a:spcPct val="170000"/>
              </a:lnSpc>
              <a:buNone/>
            </a:pPr>
            <a:r>
              <a:rPr lang="en-US" sz="143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641985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出典：『就職白書2026』図表36／LHH就活エージェント「就活の不採用理由の聞き方」／厚生労働省「新規学卒就職者の離職状況（令和4年3月卒業者）」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PROPOSAL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成長を最大化する「理由が返る就活」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62000" y="1790700"/>
            <a:ext cx="2552700" cy="3248025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2500" y="1981200"/>
            <a:ext cx="217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52500" y="2438400"/>
            <a:ext cx="489204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52500" y="2727960"/>
            <a:ext cx="217170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全員に、結果と一緒に返す</a:t>
            </a:r>
            <a:endParaRPr lang="en-US" sz="158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3345180"/>
            <a:ext cx="217170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頼まれたら返すのではなく、最初から返す。合格の理由も含む。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2500" y="4134803"/>
            <a:ext cx="2171700" cy="0"/>
          </a:xfrm>
          <a:prstGeom prst="line">
            <a:avLst/>
          </a:prstGeom>
          <a:noFill/>
          <a:ln w="9525">
            <a:solidFill>
              <a:srgbClr val="7474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2500" y="4191953"/>
            <a:ext cx="2171700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政府の就活に関する要請 → 職業安定法に基づく指針（厚労省）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67100" y="1790700"/>
            <a:ext cx="2552700" cy="3248025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1981200"/>
            <a:ext cx="217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438400"/>
            <a:ext cx="489204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727960"/>
            <a:ext cx="217170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次に生かせる形で返す</a:t>
            </a:r>
            <a:endParaRPr lang="en-US" sz="158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345180"/>
            <a:ext cx="21717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何が届き、何が足りなかったかを項目ごとに返す。企業の負担と訴訟リスクを抑える。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4328160"/>
            <a:ext cx="2171700" cy="0"/>
          </a:xfrm>
          <a:prstGeom prst="line">
            <a:avLst/>
          </a:prstGeom>
          <a:noFill/>
          <a:ln w="9525">
            <a:solidFill>
              <a:srgbClr val="C4C4C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4385310"/>
            <a:ext cx="2171700" cy="42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大学側の申合せ＋定型フォーマットの共通化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790700"/>
            <a:ext cx="2552700" cy="3248025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62700" y="1981200"/>
            <a:ext cx="217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362700" y="2438400"/>
            <a:ext cx="489204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誘因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62700" y="2727960"/>
            <a:ext cx="2171700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全員に返す企業を認定</a:t>
            </a:r>
            <a:endParaRPr lang="en-US" sz="1580" dirty="0"/>
          </a:p>
        </p:txBody>
      </p:sp>
      <p:sp>
        <p:nvSpPr>
          <p:cNvPr id="24" name="Text 22"/>
          <p:cNvSpPr txBox="1"/>
          <p:nvPr/>
        </p:nvSpPr>
        <p:spPr>
          <a:xfrm>
            <a:off x="6362700" y="3345180"/>
            <a:ext cx="21717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認定と就活サイトでの表示で、自発的に広げる。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62700" y="4521518"/>
            <a:ext cx="2171700" cy="0"/>
          </a:xfrm>
          <a:prstGeom prst="line">
            <a:avLst/>
          </a:prstGeom>
          <a:noFill/>
          <a:ln w="9525">
            <a:solidFill>
              <a:srgbClr val="C4C4C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2700" y="4578668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ユースエール認定の要件に追加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77300" y="1790700"/>
            <a:ext cx="2552700" cy="3248025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67800" y="1981200"/>
            <a:ext cx="217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067800" y="2438400"/>
            <a:ext cx="489204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67800" y="2727960"/>
            <a:ext cx="2171700" cy="31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学生側の利用ルール</a:t>
            </a:r>
            <a:endParaRPr lang="en-US" sz="1580" dirty="0"/>
          </a:p>
        </p:txBody>
      </p:sp>
      <p:sp>
        <p:nvSpPr>
          <p:cNvPr id="31" name="Text 29"/>
          <p:cNvSpPr txBox="1"/>
          <p:nvPr/>
        </p:nvSpPr>
        <p:spPr>
          <a:xfrm>
            <a:off x="9067800" y="3065145"/>
            <a:ext cx="21717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SNSへの晒しや目的外の利用を禁止する。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67800" y="4521518"/>
            <a:ext cx="2171700" cy="0"/>
          </a:xfrm>
          <a:prstGeom prst="line">
            <a:avLst/>
          </a:prstGeom>
          <a:noFill/>
          <a:ln w="9525">
            <a:solidFill>
              <a:srgbClr val="C4C4C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67800" y="4578668"/>
            <a:ext cx="21717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応募時の同意事項のひな形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2000" y="5210175"/>
            <a:ext cx="10668000" cy="99060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9650" y="5362575"/>
            <a:ext cx="10172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 → </a:t>
            </a:r>
            <a:pPr algn="l" indent="0" marL="0">
              <a:lnSpc>
                <a:spcPct val="140000"/>
              </a:lnSpc>
              <a:buNone/>
            </a:pPr>
            <a:r>
              <a:rPr lang="en-US" sz="173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</a:t>
            </a:r>
            <a:pPr algn="l" indent="0" marL="0">
              <a:lnSpc>
                <a:spcPct val="140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修正 → 再挑戦。この循環を、受ける社数の分だけ回せるようにする。</a:t>
            </a:r>
            <a:endParaRPr lang="en-US" sz="1730" dirty="0"/>
          </a:p>
        </p:txBody>
      </p:sp>
      <p:sp>
        <p:nvSpPr>
          <p:cNvPr id="36" name="Text 34"/>
          <p:cNvSpPr txBox="1"/>
          <p:nvPr/>
        </p:nvSpPr>
        <p:spPr>
          <a:xfrm>
            <a:off x="1009650" y="5743575"/>
            <a:ext cx="10172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「求めた人だけ」ではなく「全員に標準で」。新しい法律は作らず、要請・認定・指針で当たり前にしていく。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企業の負担を増やさずに、全員に返せる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61925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理由は既にある。面接官が書いている評価シートを、学生に届く形に変えるだけ。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62000" y="2038350"/>
            <a:ext cx="3190875" cy="1047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2500" y="2190750"/>
            <a:ext cx="606552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今ある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952500" y="2495550"/>
            <a:ext cx="280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面接官の評価シート</a:t>
            </a:r>
            <a:endParaRPr lang="en-US" sz="158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2781300"/>
            <a:ext cx="2809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選考のたびに、既に書かれている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333875" y="2038350"/>
            <a:ext cx="3514725" cy="10477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4375" y="2190750"/>
            <a:ext cx="964357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PROTOTYPE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4524375" y="2495550"/>
            <a:ext cx="3133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定型FBを自動生成</a:t>
            </a:r>
            <a:endParaRPr lang="en-US" sz="1580" dirty="0"/>
          </a:p>
        </p:txBody>
      </p:sp>
      <p:sp>
        <p:nvSpPr>
          <p:cNvPr id="14" name="Text 12"/>
          <p:cNvSpPr txBox="1"/>
          <p:nvPr/>
        </p:nvSpPr>
        <p:spPr>
          <a:xfrm>
            <a:off x="4524375" y="2781300"/>
            <a:ext cx="3133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項目ごとの評価と、次に生かせる一言に変換する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229600" y="2038350"/>
            <a:ext cx="3200400" cy="104775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0100" y="2190750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届く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8420100" y="2495550"/>
            <a:ext cx="2819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全員に、結果と一緒に</a:t>
            </a:r>
            <a:endParaRPr lang="en-US" sz="1580" dirty="0"/>
          </a:p>
        </p:txBody>
      </p:sp>
      <p:sp>
        <p:nvSpPr>
          <p:cNvPr id="18" name="Text 16"/>
          <p:cNvSpPr txBox="1"/>
          <p:nvPr/>
        </p:nvSpPr>
        <p:spPr>
          <a:xfrm>
            <a:off x="8420100" y="27813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合否の通知と同時に送る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3952875" y="2038350"/>
            <a:ext cx="38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Text 18"/>
          <p:cNvSpPr txBox="1"/>
          <p:nvPr/>
        </p:nvSpPr>
        <p:spPr>
          <a:xfrm>
            <a:off x="7848600" y="2038350"/>
            <a:ext cx="38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62000" y="3276600"/>
            <a:ext cx="3454400" cy="12954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276600"/>
            <a:ext cx="34544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2500" y="3486150"/>
            <a:ext cx="30734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645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</a:t>
            </a:r>
            <a:endParaRPr lang="en-US" sz="4050" dirty="0"/>
          </a:p>
        </p:txBody>
      </p:sp>
      <p:sp>
        <p:nvSpPr>
          <p:cNvPr id="24" name="Text 22"/>
          <p:cNvSpPr txBox="1"/>
          <p:nvPr/>
        </p:nvSpPr>
        <p:spPr>
          <a:xfrm>
            <a:off x="952500" y="4153853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1件あたりの生成時間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368800" y="3276600"/>
            <a:ext cx="3454400" cy="12954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368800" y="3276600"/>
            <a:ext cx="34544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9300" y="3486150"/>
            <a:ext cx="30734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645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</a:t>
            </a:r>
            <a:endParaRPr lang="en-US" sz="4050" dirty="0"/>
          </a:p>
        </p:txBody>
      </p:sp>
      <p:sp>
        <p:nvSpPr>
          <p:cNvPr id="28" name="Text 26"/>
          <p:cNvSpPr txBox="1"/>
          <p:nvPr/>
        </p:nvSpPr>
        <p:spPr>
          <a:xfrm>
            <a:off x="4559300" y="4153853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1件あたりのコスト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7975600" y="3276600"/>
            <a:ext cx="3454400" cy="129540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30" name="Shape 28"/>
          <p:cNvSpPr/>
          <p:nvPr/>
        </p:nvSpPr>
        <p:spPr>
          <a:xfrm>
            <a:off x="7975600" y="3276600"/>
            <a:ext cx="3454400" cy="571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66100" y="3486150"/>
            <a:ext cx="30734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</a:t>
            </a:r>
            <a:endParaRPr lang="en-US" sz="4050" dirty="0"/>
          </a:p>
        </p:txBody>
      </p:sp>
      <p:sp>
        <p:nvSpPr>
          <p:cNvPr id="32" name="Text 30"/>
          <p:cNvSpPr txBox="1"/>
          <p:nvPr/>
        </p:nvSpPr>
        <p:spPr>
          <a:xfrm>
            <a:off x="8166100" y="4153853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1万人の応募者に返す場合</a:t>
            </a:r>
            <a:endParaRPr lang="en-US" sz="1280" dirty="0"/>
          </a:p>
        </p:txBody>
      </p:sp>
      <p:sp>
        <p:nvSpPr>
          <p:cNvPr id="33" name="Text 31"/>
          <p:cNvSpPr txBox="1"/>
          <p:nvPr/>
        </p:nvSpPr>
        <p:spPr>
          <a:xfrm>
            <a:off x="762000" y="641985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企業の負担・法的リスク・選考の質などへの懸念と回答、コスト試算の考え方は、Appendix（A1〜A12）にまとめた。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6858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IMPACT ／ GLOBAL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3345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就活が、学生を育てる場になる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3454400" cy="2304574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34544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2500" y="1924050"/>
            <a:ext cx="3073400" cy="372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成長が続く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952500" y="2372678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2626519"/>
            <a:ext cx="3073400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何十社分の評価が、すべて次の成長の材料になる。社会に出る前に、自分の強みと課題を知れる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8800" y="1714500"/>
            <a:ext cx="3454400" cy="2304574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8800" y="1714500"/>
            <a:ext cx="3454400" cy="571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9300" y="1924050"/>
            <a:ext cx="307340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倍</a:t>
            </a:r>
            <a:endParaRPr lang="en-US" sz="4050" dirty="0"/>
          </a:p>
        </p:txBody>
      </p:sp>
      <p:sp>
        <p:nvSpPr>
          <p:cNvPr id="14" name="Text 12"/>
          <p:cNvSpPr txBox="1"/>
          <p:nvPr/>
        </p:nvSpPr>
        <p:spPr>
          <a:xfrm>
            <a:off x="4559300" y="2591753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4559300" y="2845594"/>
            <a:ext cx="3073400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建設的なFBを受けた候補者が再応募を考える可能性。候補者の94%がFBを望む。基準を言葉にすることで、選考基準もそろう（統一が課題の企業12.9%）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5600" y="1714500"/>
            <a:ext cx="3454400" cy="2304574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7" name="Shape 15"/>
          <p:cNvSpPr/>
          <p:nvPr/>
        </p:nvSpPr>
        <p:spPr>
          <a:xfrm>
            <a:off x="7975600" y="1714500"/>
            <a:ext cx="3454400" cy="571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6100" y="1924050"/>
            <a:ext cx="3073400" cy="372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格差をなくす</a:t>
            </a:r>
            <a:endParaRPr lang="en-US" sz="2550" dirty="0"/>
          </a:p>
        </p:txBody>
      </p:sp>
      <p:sp>
        <p:nvSpPr>
          <p:cNvPr id="19" name="Text 17"/>
          <p:cNvSpPr txBox="1"/>
          <p:nvPr/>
        </p:nvSpPr>
        <p:spPr>
          <a:xfrm>
            <a:off x="8166100" y="2372678"/>
            <a:ext cx="3073400" cy="2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8166100" y="2626519"/>
            <a:ext cx="3073400" cy="42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理由に届くかどうかが、使えるサービスとお金で決まらなくなる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2000" y="4190524"/>
            <a:ext cx="5257800" cy="165354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2500" y="4381024"/>
            <a:ext cx="937260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海外の動き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52500" y="4670584"/>
            <a:ext cx="48768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EU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：AI Act が、採用などの高リスクAIによる個別の決定について説明を受ける権利を定める（第86条）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韓国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：採用手続きの公正化に関する法律に、応募者へ採用の可否を知らせる規定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D645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【要確認】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190524"/>
            <a:ext cx="5257800" cy="165354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2700" y="4381024"/>
            <a:ext cx="1086612" cy="21336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日本発の展開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62700" y="4670584"/>
            <a:ext cx="487680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理由を返す定型フォーマットを、人的資本の開示や採用の国際的な指標に提案する。AI選考が広がるほど、評価の中身を返すルールの必要性は高まる。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2000" y="641985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出典：LinkedIn Talent Solutions "Guide to rejecting candidates"／『就職白書2026』図表111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13906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638300"/>
            <a:ext cx="1066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実現までの道筋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62000" y="2552700"/>
            <a:ext cx="2667000" cy="57150"/>
          </a:xfrm>
          <a:prstGeom prst="rect">
            <a:avLst/>
          </a:prstGeom>
          <a:solidFill>
            <a:srgbClr val="C4C4C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66975"/>
            <a:ext cx="228600" cy="2286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2000" y="280035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b="1" spc="2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3028950"/>
            <a:ext cx="24955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政府の就活に関する要請に、FB提供を追加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36195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内閣官房・厚労省・文科省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552700"/>
            <a:ext cx="2667000" cy="57150"/>
          </a:xfrm>
          <a:prstGeom prst="rect">
            <a:avLst/>
          </a:prstGeom>
          <a:solidFill>
            <a:srgbClr val="C4C4CD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2466975"/>
            <a:ext cx="228600" cy="2286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80035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b="1" spc="2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28950"/>
            <a:ext cx="24955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ユースエール認定に、FBを加点項目として追加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6195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厚労省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6000" y="2552700"/>
            <a:ext cx="2667000" cy="57150"/>
          </a:xfrm>
          <a:prstGeom prst="rect">
            <a:avLst/>
          </a:prstGeom>
          <a:solidFill>
            <a:srgbClr val="C4C4CD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2466975"/>
            <a:ext cx="228600" cy="2286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96000" y="280035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b="1" spc="2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2年目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6096000" y="3028950"/>
            <a:ext cx="24955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大学側の申合せと、学生側の利用ルールのひな形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6096000" y="36195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就職問題懇談会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63000" y="2552700"/>
            <a:ext cx="2667000" cy="571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724900" y="2428875"/>
            <a:ext cx="304800" cy="30480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2" name="Shape 20"/>
          <p:cNvSpPr/>
          <p:nvPr/>
        </p:nvSpPr>
        <p:spPr>
          <a:xfrm>
            <a:off x="8763000" y="2466975"/>
            <a:ext cx="228600" cy="22860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3000" y="280035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b="1" spc="2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8763000" y="3028950"/>
            <a:ext cx="24955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指針に「結果と一緒に理由を返す」を標準として明記</a:t>
            </a:r>
            <a:endParaRPr lang="en-US" sz="1430" dirty="0"/>
          </a:p>
        </p:txBody>
      </p:sp>
      <p:sp>
        <p:nvSpPr>
          <p:cNvPr id="25" name="Text 23"/>
          <p:cNvSpPr txBox="1"/>
          <p:nvPr/>
        </p:nvSpPr>
        <p:spPr>
          <a:xfrm>
            <a:off x="8763000" y="3619500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厚労省（労働政策審議会）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2000" y="4191000"/>
            <a:ext cx="10668000" cy="13525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85850" y="4476750"/>
            <a:ext cx="10001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spc="200" kern="0" dirty="0">
                <a:solidFill>
                  <a:srgbClr val="C4C4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沈黙する選考から、育てる選考へ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85850" y="4800600"/>
            <a:ext cx="1000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就活を、学生が</a:t>
            </a:r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いちばん成長できる時間</a:t>
            </a:r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162050"/>
            <a:ext cx="533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2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ここから先は補足資料です（発表では扱いません）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762000" y="1162050"/>
            <a:ext cx="5334000" cy="361950"/>
          </a:xfrm>
          <a:prstGeom prst="rect">
            <a:avLst/>
          </a:prstGeom>
          <a:ln w="19050">
            <a:solidFill>
              <a:srgbClr val="2E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850" y="1695450"/>
            <a:ext cx="10763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en-US" sz="1125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333750"/>
            <a:ext cx="1066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想定される懸念への詳細な回答と、設計の詳細・根拠データ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848100"/>
            <a:ext cx="10668000" cy="1905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2000" y="40195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懸念の一覧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6286500" y="40195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A2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企業の負担：全員に返すと重いのでは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3243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A3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コスト試算の考え方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6286500" y="43243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段階的な導入計画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46291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A5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フィードバックの仕様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6286500" y="46291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A6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自動生成の仕組みと安全策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49339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A7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法的リスクの整理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6286500" y="49339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A8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選考の質と学生への影響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52387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A9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実効性の担保と成果指標（KPI）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6286500" y="52387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A10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関係者ごとのメリットと働きかけ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55435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A11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海外の制度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55435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A12	</a:t>
            </a:r>
            <a:pPr indent="0" marL="0">
              <a:buNone/>
            </a:pPr>
            <a:r>
              <a:rPr lang="en-US" sz="12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データの出典と読み方の注意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懸念の一覧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52550"/>
          <a:ext cx="10972800" cy="914400"/>
        </p:xfrm>
        <a:graphic>
          <a:graphicData uri="http://schemas.openxmlformats.org/drawingml/2006/table">
            <a:tbl>
              <a:tblPr/>
              <a:tblGrid>
                <a:gridCol w="381000"/>
                <a:gridCol w="3619500"/>
                <a:gridCol w="5905500"/>
                <a:gridCol w="1066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懸念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答えの要点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詳細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全員に返すと、企業の負担が重い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理由は既に評価シートにある。自動生成と段階導入で、1件あたりの手間をほぼなくす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A2・A3・A4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何をどこまで返すのかが曖昧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選考段階ごとに返す項目と返さない項目を決めておく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A5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AIが不適切な文章を作る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生成は項目評価の言い換えに限る。表現チェックと人事の最終確認を挟む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A6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採用の自由を侵す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採否には介入しない。判断の理由を返すことだけを求める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A7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差別訴訟や個人情報のトラブルが増える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職務に関わる項目だけを返す。配点と自由記述は返さない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A7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FBに合わせて対策され、選考が機能しなくなる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ずれが減るのは選考の目的にかなう。配点と合格ラインは返さない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A8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厳しいFBで学生が傷つく・SNSに晒される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合格の理由も返し、伝え方の指針をつくる。利用ルールで晒しを禁じる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A8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形だけのFBになる／企業が参加しない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認定審査でのサンプル確認と、段階を踏んだ普及。KPIで効果を測る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A9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就職エージェントなど既存の事業者が反発する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FBの活用支援という新しい役割がある。対立ではなく協力の関係にする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A10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企業の負担：全員に返すと重いのでは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600" y="1352550"/>
            <a:ext cx="5429250" cy="1521142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2000" y="1485900"/>
            <a:ext cx="639836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 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760220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新しく書く必要はない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2044065"/>
            <a:ext cx="5124450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面接官は、選考のたびに評価シートを書いている。企業は、就職エージェントには不採用の理由を伝えることもある。理由は既に社内にあり、足りないのは学生に届ける仕組みだけ。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150" y="1352550"/>
            <a:ext cx="5429250" cy="1521142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5550" y="1485900"/>
            <a:ext cx="639836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 2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6305550" y="1760220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自動生成で、1件あたりの手間をほぼゼロにする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6305550" y="2044065"/>
            <a:ext cx="512445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評価シートから定型FBを自動でつくる（本編8ページ、A6）。人の作業は、送る前の確認だけにする。1件あたり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F8A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○秒・○円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（A3）。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600" y="2987993"/>
            <a:ext cx="5429250" cy="1521142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2000" y="3121343"/>
            <a:ext cx="639836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 3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3395663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段階的に広げる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762000" y="3679507"/>
            <a:ext cx="512445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1年目は面接に進んだ応募者から始める。書類選考の段階では、3項目の評価だけを返す。運用が回ってから、対象と項目を広げる（A4）。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150" y="2987993"/>
            <a:ext cx="5429250" cy="1521142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5550" y="3121343"/>
            <a:ext cx="639836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 4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6305550" y="3395663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先に始めた企業が得をする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6305550" y="3679507"/>
            <a:ext cx="5124450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スエール認定と就活サイトでの表示で、採用ブランドが上がる。建設的なFBを受けた候補者は、その企業への再応募を考える可能性が4倍になる。中小企業には、共通フォーマットと生成ツールを無償で提供す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600" y="4680585"/>
            <a:ext cx="57150" cy="2857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050" y="4709160"/>
            <a:ext cx="10801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採用に関わる人員の不足を課題に挙げる企業は38.2%。負担の懸念は最も強く出ると想定し、最初に答えを用意する。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6438900"/>
            <a:ext cx="1009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出典：『就職白書2026』図表111／LinkedIn Talent Solutions "Guide to rejecting candidates"／LHH就活エージェント「就活の不採用理由の聞き方」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コスト試算の考え方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試算式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676400"/>
            <a:ext cx="5410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年間の追加コスト ＝ FBを返す件数 × 1件あたりの作業時間 × 担当者の時間単価 ＋ 生成ツールの利用料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495550"/>
          <a:ext cx="54102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前提（例）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手作業で書く場合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自動生成＋確認の場合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FBを返す件数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10,000件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10,000件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1件あたりの作業時間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5分（仮定）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D645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○秒</a:t>
                      </a:r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（確認のみ）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必要な作業時間の合計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約833時間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D645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○時間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生成ツールの利用料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D645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○円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722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試算の読み方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91250" y="1781175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15075" y="1695450"/>
            <a:ext cx="526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手作業の5分は、比較のための仮定の値。実際の値は企業へのヒアリングで置き換える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191250" y="2247900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15075" y="2162175"/>
            <a:ext cx="5267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自動生成の値は、試作で実測した数字を入れる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191250" y="2500313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15075" y="2414588"/>
            <a:ext cx="526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件数は、大手企業の1年分の応募者を想定した規模。中小企業ではこの数分の1から数十分の1になる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6191250" y="2967038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15075" y="2881313"/>
            <a:ext cx="526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書類選考の段階は3項目だけを返すので、面接の段階より1件あたりの作業は軽い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6172200" y="3538538"/>
            <a:ext cx="5410200" cy="798195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43650" y="3671888"/>
            <a:ext cx="5067300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伝えたいのは「手作業なら重いが、評価シートからの自動生成なら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ほぼ確認の手間だけ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になる」という差。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段階的な導入計画</a:t>
            </a:r>
            <a:endParaRPr lang="en-US" sz="2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52550"/>
          <a:ext cx="10972800" cy="914400"/>
        </p:xfrm>
        <a:graphic>
          <a:graphicData uri="http://schemas.openxmlformats.org/drawingml/2006/table">
            <a:tbl>
              <a:tblPr/>
              <a:tblGrid>
                <a:gridCol w="952500"/>
                <a:gridCol w="2381250"/>
                <a:gridCol w="1714500"/>
                <a:gridCol w="2381250"/>
                <a:gridCol w="35433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対象の企業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対象の選考段階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返す内容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主な手段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賛同する企業（先行導入）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面接に進んだ応募者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5項目の評価＋次に生かせる一言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政府の就活に関する要請、ユースエール認定での加点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2年目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認定企業・経済団体の会員企業に拡大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面接＋書類選考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書類は3項目、面接は5項目＋一言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大学側の申合せ、共通フォーマットの公開、生成ツールの無償提供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3年目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すべての新卒採用企業（標準として明記）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すべての選考段階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段階ごとの標準項目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職業安定法に基づく指針に「結果と一緒に理由を返す」を標準として明記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4年目以降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中途採用にも拡大を検討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効果検証（A9）の結果をもとに判断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9600" y="3714750"/>
            <a:ext cx="3581400" cy="1246823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2000" y="3848100"/>
            <a:ext cx="327660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面接から始める理由</a:t>
            </a:r>
            <a:endParaRPr lang="en-US" sz="1280" dirty="0"/>
          </a:p>
        </p:txBody>
      </p:sp>
      <p:sp>
        <p:nvSpPr>
          <p:cNvPr id="10" name="Text 7"/>
          <p:cNvSpPr txBox="1"/>
          <p:nvPr/>
        </p:nvSpPr>
        <p:spPr>
          <a:xfrm>
            <a:off x="762000" y="4131945"/>
            <a:ext cx="3276600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面接の評価シートは内容が豊かで、FBにしたときの学生の価値が大きい。対象の人数も書類選考より少ない。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05300" y="3714750"/>
            <a:ext cx="3581400" cy="1246823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57700" y="3848100"/>
            <a:ext cx="327660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書類は3項目に絞る理由</a:t>
            </a:r>
            <a:endParaRPr lang="en-US" sz="1280" dirty="0"/>
          </a:p>
        </p:txBody>
      </p:sp>
      <p:sp>
        <p:nvSpPr>
          <p:cNvPr id="13" name="Text 10"/>
          <p:cNvSpPr txBox="1"/>
          <p:nvPr/>
        </p:nvSpPr>
        <p:spPr>
          <a:xfrm>
            <a:off x="4457700" y="4131945"/>
            <a:ext cx="3276600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応募者の数が最も多い段階なので、企業の負担を抑える。3項目でも「何が足りなかったか」の方向は分かる。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01000" y="3714750"/>
            <a:ext cx="3581400" cy="1246823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53400" y="3848100"/>
            <a:ext cx="327660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義務ではなく「標準」にする理由</a:t>
            </a:r>
            <a:endParaRPr lang="en-US" sz="1280" dirty="0"/>
          </a:p>
        </p:txBody>
      </p:sp>
      <p:sp>
        <p:nvSpPr>
          <p:cNvPr id="16" name="Text 13"/>
          <p:cNvSpPr txBox="1"/>
          <p:nvPr/>
        </p:nvSpPr>
        <p:spPr>
          <a:xfrm>
            <a:off x="8153400" y="4131945"/>
            <a:ext cx="327660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強制すると反発で形だけのFBになりやすい。先行企業の実績を見せ、当たり前にしていく。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フィードバックの仕様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選考段階ごとの標準項目（例）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76400"/>
          <a:ext cx="5715000" cy="914400"/>
        </p:xfrm>
        <a:graphic>
          <a:graphicData uri="http://schemas.openxmlformats.org/drawingml/2006/table">
            <a:tbl>
              <a:tblPr/>
              <a:tblGrid>
                <a:gridCol w="762000"/>
                <a:gridCol w="2857500"/>
                <a:gridCol w="20955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志望動機と当社の事業の一致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経験の具体性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文章の分かりやすさ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上の3項目＋対話での伝わり方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当社の働き方との相性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3段階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次に生かせる一言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定型文から選択＋短い補足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09600" y="43053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3段階は「期待を上回る／期待どおり／期待に届かず」。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532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返すもの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72250" y="1743075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96075" y="1657350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項目ごとの3段階評価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572250" y="1985963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96075" y="1900238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評価が高かった点（合格の場合も必ず返す）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572250" y="2228850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96075" y="2143125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次に生かせる一言</a:t>
            </a:r>
            <a:endParaRPr lang="en-US" sz="1130" dirty="0"/>
          </a:p>
        </p:txBody>
      </p:sp>
      <p:sp>
        <p:nvSpPr>
          <p:cNvPr id="17" name="Text 14"/>
          <p:cNvSpPr txBox="1"/>
          <p:nvPr/>
        </p:nvSpPr>
        <p:spPr>
          <a:xfrm>
            <a:off x="6553200" y="2538413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返さないもの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72250" y="2928938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96075" y="2843213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配点、合計点、合格ライン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6572250" y="3171825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96075" y="3086100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他の応募者との比較や順位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6572250" y="3414713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96075" y="3328988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面接官個人の名前や自由記述のメモ</a:t>
            </a:r>
            <a:endParaRPr lang="en-US" sz="1130" dirty="0"/>
          </a:p>
        </p:txBody>
      </p:sp>
      <p:sp>
        <p:nvSpPr>
          <p:cNvPr id="24" name="Shape 21"/>
          <p:cNvSpPr/>
          <p:nvPr/>
        </p:nvSpPr>
        <p:spPr>
          <a:xfrm>
            <a:off x="6572250" y="3657600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96075" y="3571875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職務に関係のない事項（出身地や家族など）</a:t>
            </a:r>
            <a:endParaRPr lang="en-US" sz="1130" dirty="0"/>
          </a:p>
        </p:txBody>
      </p:sp>
      <p:sp>
        <p:nvSpPr>
          <p:cNvPr id="26" name="Text 23"/>
          <p:cNvSpPr txBox="1"/>
          <p:nvPr/>
        </p:nvSpPr>
        <p:spPr>
          <a:xfrm>
            <a:off x="6553200" y="3967163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届け方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72250" y="4357688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96075" y="4271963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合否の通知と同時に、採用サイトのマイページかメールで送る</a:t>
            </a:r>
            <a:endParaRPr lang="en-US" sz="1130" dirty="0"/>
          </a:p>
        </p:txBody>
      </p:sp>
      <p:sp>
        <p:nvSpPr>
          <p:cNvPr id="29" name="Shape 26"/>
          <p:cNvSpPr/>
          <p:nvPr/>
        </p:nvSpPr>
        <p:spPr>
          <a:xfrm>
            <a:off x="6572250" y="4600575"/>
            <a:ext cx="42863" cy="42863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96075" y="4514850"/>
            <a:ext cx="48863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保存期間は、その年度の就活が終わるまで</a:t>
            </a:r>
            <a:endParaRPr lang="en-US" sz="11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自動生成の仕組みと安全策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600" y="1352550"/>
            <a:ext cx="1981200" cy="11430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2000" y="1485900"/>
            <a:ext cx="276484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771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評価シート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2019300"/>
            <a:ext cx="167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面接官が選考中に記入する（今と同じ）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2590800" y="1352550"/>
            <a:ext cx="26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2857500" y="1352550"/>
            <a:ext cx="1981200" cy="11430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09900" y="1485900"/>
            <a:ext cx="276484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3009900" y="1771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項目への対応づけ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9900" y="2019300"/>
            <a:ext cx="167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社内の評価項目を標準項目に対応させる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838700" y="1352550"/>
            <a:ext cx="26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05400" y="1352550"/>
            <a:ext cx="1981200" cy="114300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1485900"/>
            <a:ext cx="276484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1771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文章の生成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019300"/>
            <a:ext cx="167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項目評価を、次に生かせる言葉に言い換える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1352550"/>
            <a:ext cx="26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353300" y="1352550"/>
            <a:ext cx="1981200" cy="11430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05700" y="1485900"/>
            <a:ext cx="276484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7505700" y="1771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05700" y="2019300"/>
            <a:ext cx="167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表現の自動チェックと、人事の最終確認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9334500" y="1352550"/>
            <a:ext cx="26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601200" y="1352550"/>
            <a:ext cx="1981200" cy="114300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53600" y="1485900"/>
            <a:ext cx="276484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9753600" y="1771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送付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753600" y="2019300"/>
            <a:ext cx="167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合否の通知と同時に届ける</a:t>
            </a:r>
            <a:endParaRPr lang="en-US" sz="98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686050"/>
          <a:ext cx="10972800" cy="914400"/>
        </p:xfrm>
        <a:graphic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安全策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AIが、評価シートにない内容を作ってしまう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生成は、項目評価と評価シートの記述の言い換えに限る。新しい評価はさせない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人格を否定する表現や、差別につながる表現が出る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禁止表現の自動チェックを通し、引っかかったものは人が書き直す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職務に関係のない事項が混ざる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出身地や家族など、公正採用選考で聞かない事項を入力の段階で除く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学生の個人情報が外部に出る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企業の社内環境で動かせる形にする。外部サービスを使う場合は、学習に使われない設定にする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責任の所在があいまいになる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送る前に人事が確認する。FBの内容の責任は企業が持つ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法的リスクの整理</a:t>
            </a:r>
            <a:endParaRPr lang="en-US" sz="2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52550"/>
          <a:ext cx="10972800" cy="914400"/>
        </p:xfrm>
        <a:graphic>
          <a:graphicData uri="http://schemas.openxmlformats.org/drawingml/2006/table">
            <a:tbl>
              <a:tblPr/>
              <a:tblGrid>
                <a:gridCol w="1047750"/>
                <a:gridCol w="2381250"/>
                <a:gridCol w="4667250"/>
                <a:gridCol w="28765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論点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懸念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関係する制度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採用の自由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企業には、誰を採用するかを決める自由がある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採否の判断には一切介入しない。求めるのは、判断の理由を返すことだけ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三菱樹脂事件の最高裁判決（1973年）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差別訴訟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理由を返すと、不当な差別だと争われる材料になる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返すのは職務に関わる評価項目だけ。自由記述、配点、他の応募者との比較は返さない。職務に関わる項目で評価していることを示せるので、企業の説明責任を果たす手段にもなる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公正採用選考の考え方（厚労省）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個人情報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評価の情報をどこまで本人に出してよいか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返す範囲をA5の仕様で決めておく。本人への開示の考え方と整合させる </a:t>
                      </a:r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D645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【開示の例外規定との関係を要確認】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個人情報保護法（保有個人データの開示）、職業安定法の個人情報の規定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強制力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義務にすると、企業の反発が大きい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新しい法律は作らない。要請と認定で広げ、3年目に指針で「標準」と明記する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職業安定法に基づく指針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情報の拡散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FBが外部に出回る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応募時の同意事項に、SNSへの投稿や目的外の利用の禁止を入れる。違反時の扱いも決めておく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応募時の同意事項（ひな形を用意）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選考の質と学生への影響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600" y="1333500"/>
            <a:ext cx="5429250" cy="1624965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2000" y="1428750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703070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学生がFBに合わせて対策する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1986915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評価項目が知られると、学生が「受かる答え」を用意するようになり、選考で本来の姿が見えなくなる。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150" y="1333500"/>
            <a:ext cx="5429250" cy="1624965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5550" y="1428750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6305550" y="1703070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ずれが減ることは、選考の目的にかなう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6305550" y="1986915"/>
            <a:ext cx="5124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が重視する点と学生のアピールには、50pt以上のずれがある項目がある（本編5ページ）。企業が見たいものを学生が理解し、それを伸ばそうとすることは、成長そのもの。配点と合格ラインは返さないので、判断は企業の手に残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600" y="3053715"/>
            <a:ext cx="5429250" cy="1424940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2000" y="3148965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3423285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厳しいFBで、学生が傷つく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762000" y="3707130"/>
            <a:ext cx="5124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不合格の理由を何度も突きつけられて、自信をなくす学生が出る。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150" y="3053715"/>
            <a:ext cx="5429250" cy="142494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5550" y="3148965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6305550" y="3423285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合格の理由も返し、伝え方をそろえる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6305550" y="3707130"/>
            <a:ext cx="51244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評価が高かった点も必ず返す。人格ではなく項目への評価として伝える指針をつくる。大学のキャリアセンターと組んで、FBを受け取った後に相談できる場を用意する。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600" y="4573905"/>
            <a:ext cx="5429250" cy="1224915"/>
          </a:xfrm>
          <a:prstGeom prst="rect">
            <a:avLst/>
          </a:prstGeom>
          <a:solidFill>
            <a:srgbClr val="F4F4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2000" y="4669155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762000" y="4943475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FBの内容に納得できない学生が、企業に抗議する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762000" y="5227320"/>
            <a:ext cx="5124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理由を知ったことで、かえってトラブルが増える。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53150" y="4573905"/>
            <a:ext cx="5429250" cy="1224915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5550" y="4669155"/>
            <a:ext cx="467868" cy="1981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100" kern="0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6305550" y="4943475"/>
            <a:ext cx="5124450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80" b="1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FBは結論の変更を求める材料にしない</a:t>
            </a:r>
            <a:endParaRPr lang="en-US" sz="1280" dirty="0"/>
          </a:p>
        </p:txBody>
      </p:sp>
      <p:sp>
        <p:nvSpPr>
          <p:cNvPr id="30" name="Text 28"/>
          <p:cNvSpPr txBox="1"/>
          <p:nvPr/>
        </p:nvSpPr>
        <p:spPr>
          <a:xfrm>
            <a:off x="6305550" y="5227320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応募時の同意事項に、FBは次の就活に生かすためのものであり、合否の再審査の対象ではないと明記する。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実効性の担保と成果指標（KPI）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形だけにしない仕組み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76400"/>
          <a:ext cx="5410200" cy="914400"/>
        </p:xfrm>
        <a:graphic>
          <a:graphicData uri="http://schemas.openxmlformats.org/drawingml/2006/table">
            <a:tbl>
              <a:tblPr/>
              <a:tblGrid>
                <a:gridCol w="1428750"/>
                <a:gridCol w="2667000"/>
                <a:gridCol w="13144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懸念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仕組み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担い手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全員に「期待どおり」と返す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認定審査で、実際に返したFBのサンプルを確認する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厚労省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企業ごとに質がばらばら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共通フォーマットと、良い例・悪い例の手引きを公開する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厚労省・大学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企業が参加しない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要請 → 認定での加点 → 指針で標準と明記、と段階を踏む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内閣官房・厚労省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大学が動かない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大学側の申合せに入れ、キャリアセンターが活用を支援する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就職問題懇談会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72200" y="13525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highlight>
                  <a:srgbClr val="FFE600"/>
                </a:highlight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成果指標（KPI）</a:t>
            </a:r>
            <a:endParaRPr lang="en-US" sz="13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76400"/>
          <a:ext cx="5410200" cy="914400"/>
        </p:xfrm>
        <a:graphic>
          <a:graphicData uri="http://schemas.openxmlformats.org/drawingml/2006/table">
            <a:tbl>
              <a:tblPr/>
              <a:tblGrid>
                <a:gridCol w="1238250"/>
                <a:gridCol w="41719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何を見るか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FB提供率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選考を受けた応募者のうち、理由を受け取った割合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役立ち度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FBが次の選考に役立ったと答えた学生の割合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基準の理解度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「採用選考の基準を知ることができた」学生の割合（本編4ページの29.4%を改善）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再応募・好感度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FBを受けた学生の、その企業への印象と再応募の意向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早期離職率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導入企業の、新卒3年以内の離職率の推移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9600" y="4953000"/>
            <a:ext cx="57150" cy="2857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1050" y="4981575"/>
            <a:ext cx="10801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「基準の理解度」は『就職白書』と同じ問いで毎年追えるので、導入前後の比較ができる。</a:t>
            </a:r>
            <a:endParaRPr lang="en-US" sz="11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関係者ごとのメリットと働きかけ</a:t>
            </a:r>
            <a:endParaRPr lang="en-US" sz="2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52550"/>
          <a:ext cx="10972800" cy="914400"/>
        </p:xfrm>
        <a:graphic>
          <a:graphicData uri="http://schemas.openxmlformats.org/drawingml/2006/table">
            <a:tbl>
              <a:tblPr/>
              <a:tblGrid>
                <a:gridCol w="1809750"/>
                <a:gridCol w="3429000"/>
                <a:gridCol w="2286000"/>
                <a:gridCol w="34480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メリット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懸念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働きかけ方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学生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評価のたびに学べる。理由に届くかどうかがお金で決まらない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厳しいFBへの不安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合格の理由も返す。キャリアセンターでの相談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選考基準がそろう。採用ブランドが上がる。ミスマッチが減る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手間と法的リスク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自動生成ツール、段階導入、認定での加点（A2〜A7）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キャリア支援の質が上がる。学生の成長を測れる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支援の負担が増える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申合せへの追加。FBを使った面談の手引き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国（厚労省・文科省・内閣官房）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若者の早期離職を減らす。人材育成の政策と合う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企業の反発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要請と認定から始め、実績をもとに指針へ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就活サイト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FBを出す企業の表示で、サイトの価値が上がる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表示の運用の手間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表示項目の共通化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就職エージェント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FBを読み解き、次の対策につなげる支援という新しい役割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理由を知れるという独自の価値が薄れる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FBを前提にした支援の形を一緒に考える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経済団体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会員企業の採用ブランドが上がる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会員企業の負担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先行導入企業の事例の共有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A11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海外の制度</a:t>
            </a:r>
            <a:endParaRPr lang="en-US" sz="2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52550"/>
          <a:ext cx="10972800" cy="914400"/>
        </p:xfrm>
        <a:graphic>
          <a:graphicData uri="http://schemas.openxmlformats.org/drawingml/2006/table">
            <a:tbl>
              <a:tblPr/>
              <a:tblGrid>
                <a:gridCol w="952500"/>
                <a:gridCol w="2095500"/>
                <a:gridCol w="4381500"/>
                <a:gridCol w="35433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国・地域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制度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この提案との関係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EU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 Act 第86条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採用などの高リスクAIによる個別の決定について、説明を受ける権利を定める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AIを使った選考では、理由の説明が国際的な流れになっている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EU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GDPR 第22条・第15条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自動化された決定に服さない権利や、そのロジックについて意味のある情報を得る権利を定める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評価の中身を本人に返すという考え方の土台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韓国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採用手続きの公正化に関する法律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応募者に採用の可否を知らせる規定がある </a:t>
                      </a:r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D645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【対象の企業規模と義務の強さを要確認】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近い国の採用ルールの先例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民間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LinkedIn の調査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候補者の94%が面接後のFBを望み、建設的なFBを受けると再応募を考える可能性が4倍になる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企業にとってのメリットの根拠</a:t>
                      </a:r>
                      <a:endParaRPr lang="en-US" sz="10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9600" y="4191000"/>
            <a:ext cx="57150" cy="28575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050" y="4219575"/>
            <a:ext cx="10801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3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日本の提案の特徴は、AIの利用に限らず「すべての選考で、結果と一緒に理由を返す」を標準にする点。AI選考の規制より一歩先の、成長のための仕組みとして打ち出せる。</a:t>
            </a:r>
            <a:endParaRPr lang="en-US" sz="11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0"/>
            <a:ext cx="685800" cy="1143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858500" y="65151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10001250" y="190500"/>
            <a:ext cx="1809750" cy="228600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spc="200" kern="0" dirty="0">
                <a:solidFill>
                  <a:srgbClr val="FFE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　補足資料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524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300" kern="0" dirty="0">
                <a:solidFill>
                  <a:srgbClr val="74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800100"/>
            <a:ext cx="10972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2E2E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データの出典と読み方の注意</a:t>
            </a:r>
            <a:endParaRPr lang="en-US" sz="2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14450"/>
          <a:ext cx="10972800" cy="914400"/>
        </p:xfrm>
        <a:graphic>
          <a:graphicData uri="http://schemas.openxmlformats.org/drawingml/2006/table">
            <a:tbl>
              <a:tblPr/>
              <a:tblGrid>
                <a:gridCol w="2381250"/>
                <a:gridCol w="2762250"/>
                <a:gridCol w="2762250"/>
                <a:gridCol w="30670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本編の数字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出典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読み方の注意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各選考プロセスの平均社数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書類12.4社、適性検査9.8社、面接 対面5.1社・Web7.6社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『就職白書2026』図表37（26卒、学生n=1,326）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そのプロセスを経験した学生だけの平均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採用選考の基準を知りたかった／知れた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36.7%／29.4%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 図表39・40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複数回答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企業の重視点と学生のアピールのずれ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人柄 93.8%／40.9% ほか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 図表110（企業n=1,182）・図表41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「重視する」と「アピールした」は別の問い。人柄は意識しなくても伝わる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人材紹介会社に登録している学生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12.2%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 図表36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「約8人に1人」は、理由に届く経路の目安として使っている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企業はエージェントに理由を伝えることがある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LHH就活エージェントの解説記事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事業者の説明であり、割合のデータではない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大卒の3年以内離職率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33.8%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厚労省（令和4年3月卒）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FBの欠如との因果関係は示せていない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採用人員の不足・選考基準の統一が課題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38.2%／12.9%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『就職白書2026』図表111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複数回答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FBを望む候補者／再応募の可能性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94%／4倍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LinkedIn Talent Solutions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海外の調査。日本の新卒採用にそのまま当てはまるとは限らない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合否を連絡しない企業（口頭の補足）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書類29%、大企業の面接23%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HR総研（2017年3月実施）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E2E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古い調査なので背景として使う</a:t>
                      </a:r>
                      <a:endParaRPr lang="en-US" sz="101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5250" marR="9525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沈黙する選考から、育てる選考へ</dc:title>
  <dc:subject>PptxGenJS Presentation</dc:subject>
  <dc:creator>PptxGenJS</dc:creator>
  <cp:lastModifiedBy>PptxGenJS</cp:lastModifiedBy>
  <cp:revision>1</cp:revision>
  <dcterms:created xsi:type="dcterms:W3CDTF">2026-09-25T05:38:22Z</dcterms:created>
  <dcterms:modified xsi:type="dcterms:W3CDTF">2026-09-25T05:38:22Z</dcterms:modified>
</cp:coreProperties>
</file>